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ONE é a plataforma da GrowUp. Uma frase: todo o negócio em um só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virada: em vez de N ferramentas, uma plataforma com o método da GrowUp embutido.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owup_sis/fase1/kit/one-by-growup_principal_offwhite@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7036" y="1554480"/>
            <a:ext cx="4754880" cy="20647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11480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1F1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o seu negócio em um.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0" y="4892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comercial · GrowUp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6748272"/>
            <a:ext cx="2031492" cy="109728"/>
          </a:xfrm>
          <a:prstGeom prst="rect">
            <a:avLst/>
          </a:prstGeom>
          <a:solidFill>
            <a:srgbClr val="DE571B"/>
          </a:solidFill>
          <a:ln/>
        </p:spPr>
      </p:sp>
      <p:sp>
        <p:nvSpPr>
          <p:cNvPr id="6" name="Shape 3"/>
          <p:cNvSpPr/>
          <p:nvPr/>
        </p:nvSpPr>
        <p:spPr>
          <a:xfrm>
            <a:off x="2031492" y="6748272"/>
            <a:ext cx="2031492" cy="109728"/>
          </a:xfrm>
          <a:prstGeom prst="rect">
            <a:avLst/>
          </a:prstGeom>
          <a:solidFill>
            <a:srgbClr val="4767FA"/>
          </a:solidFill>
          <a:ln/>
        </p:spPr>
      </p:sp>
      <p:sp>
        <p:nvSpPr>
          <p:cNvPr id="7" name="Shape 4"/>
          <p:cNvSpPr/>
          <p:nvPr/>
        </p:nvSpPr>
        <p:spPr>
          <a:xfrm>
            <a:off x="4062984" y="6748272"/>
            <a:ext cx="2031492" cy="109728"/>
          </a:xfrm>
          <a:prstGeom prst="rect">
            <a:avLst/>
          </a:prstGeom>
          <a:solidFill>
            <a:srgbClr val="5E8C54"/>
          </a:solidFill>
          <a:ln/>
        </p:spPr>
      </p:sp>
      <p:sp>
        <p:nvSpPr>
          <p:cNvPr id="8" name="Shape 5"/>
          <p:cNvSpPr/>
          <p:nvPr/>
        </p:nvSpPr>
        <p:spPr>
          <a:xfrm>
            <a:off x="6094476" y="6748272"/>
            <a:ext cx="2031492" cy="109728"/>
          </a:xfrm>
          <a:prstGeom prst="rect">
            <a:avLst/>
          </a:prstGeom>
          <a:solidFill>
            <a:srgbClr val="3A50D2"/>
          </a:solidFill>
          <a:ln/>
        </p:spPr>
      </p:sp>
      <p:sp>
        <p:nvSpPr>
          <p:cNvPr id="9" name="Shape 6"/>
          <p:cNvSpPr/>
          <p:nvPr/>
        </p:nvSpPr>
        <p:spPr>
          <a:xfrm>
            <a:off x="8125968" y="6748272"/>
            <a:ext cx="2031492" cy="109728"/>
          </a:xfrm>
          <a:prstGeom prst="rect">
            <a:avLst/>
          </a:prstGeom>
          <a:solidFill>
            <a:srgbClr val="2E8FA3"/>
          </a:solidFill>
          <a:ln/>
        </p:spPr>
      </p:sp>
      <p:sp>
        <p:nvSpPr>
          <p:cNvPr id="10" name="Shape 7"/>
          <p:cNvSpPr/>
          <p:nvPr/>
        </p:nvSpPr>
        <p:spPr>
          <a:xfrm>
            <a:off x="10157460" y="6748272"/>
            <a:ext cx="2031492" cy="109728"/>
          </a:xfrm>
          <a:prstGeom prst="rect">
            <a:avLst/>
          </a:prstGeom>
          <a:solidFill>
            <a:srgbClr val="7B4FE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0350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Quantas ferramentas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você paga para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gerir seu negócio?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5669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em uma ferramenta, financeiro em planilha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de marketing cara e fora do seu controle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no WhatsApp, processos na cabeça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montados à mão toda sexta-feira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conversa com a outra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-240000">
            <a:off x="7223760" y="10972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 rot="-240000">
            <a:off x="722376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rot="240000">
            <a:off x="9692640" y="9144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 rot="240000">
            <a:off x="969264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-240000">
            <a:off x="7863840" y="20116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240000">
            <a:off x="7863840" y="2011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de mkt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240000">
            <a:off x="9966960" y="23774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 rot="240000">
            <a:off x="996696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 tarefas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-240000">
            <a:off x="7498080" y="310896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 rot="-240000">
            <a:off x="749808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 WhatsApp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40000">
            <a:off x="9784080" y="374904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 rot="240000">
            <a:off x="978408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relatórios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-240000">
            <a:off x="7955280" y="42976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-240000">
            <a:off x="795528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mkt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240000">
            <a:off x="9418320" y="502920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F1F1F3"/>
          </a:solidFill>
          <a:ln w="12700">
            <a:solidFill>
              <a:srgbClr val="D8D8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 rot="240000">
            <a:off x="9418320" y="5029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5760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mensalidades somadas, dados espalhados, ninguém enxergando o todo.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owup_sis/fase1/kit/one_appicon@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10515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1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o seu negócio em </a:t>
            </a:r>
            <a:pPr algn="ctr" indent="0" marL="0">
              <a:buNone/>
            </a:pPr>
            <a:r>
              <a:rPr lang="en-US" sz="40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um</a:t>
            </a:r>
            <a:pPr algn="ctr" indent="0" marL="0">
              <a:buNone/>
            </a:pPr>
            <a:r>
              <a:rPr lang="en-US" sz="4000" b="1" dirty="0">
                <a:solidFill>
                  <a:srgbClr val="F1F1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C9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by GrowUp — o método GrowUp em forma de plataforma.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0" y="4709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C6C7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CRM  ·  Financeiro  ·  Operação  ·  Relatórios  ·  Marketing  ·  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Não é um software. É um ecossistema.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3017520" cy="914400"/>
          </a:xfrm>
          <a:prstGeom prst="roundRect">
            <a:avLst>
              <a:gd name="adj" fmla="val 14000"/>
            </a:avLst>
          </a:prstGeom>
          <a:solidFill>
            <a:srgbClr val="EDEDE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growup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0" y="167335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consultoria: método, auditorias e gente que já acelerou dezenas de negócios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57400" y="2468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3017520" cy="914400"/>
          </a:xfrm>
          <a:prstGeom prst="roundRect">
            <a:avLst>
              <a:gd name="adj" fmla="val 14000"/>
            </a:avLst>
          </a:prstGeom>
          <a:solidFill>
            <a:srgbClr val="E7EB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50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0" y="29077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plataforma: o método vira rotina diária dentro do seu sistema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57400" y="37033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3017520" cy="914400"/>
          </a:xfrm>
          <a:prstGeom prst="roundRect">
            <a:avLst>
              <a:gd name="adj" fmla="val 14000"/>
            </a:avLst>
          </a:prstGeom>
          <a:solidFill>
            <a:srgbClr val="F6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69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módulos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14800" y="414223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acontece: vendas, lucro, execução, norte, marketing e IA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464040" y="173736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DE571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0" y="2011680"/>
            <a:ext cx="548640" cy="54864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10762488" y="1737360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4767F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808" y="2011680"/>
            <a:ext cx="548640" cy="5486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464040" y="3035808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5E8C5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0" y="3310128"/>
            <a:ext cx="548640" cy="5486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762488" y="3035808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3A50D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6808" y="3310128"/>
            <a:ext cx="548640" cy="54864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464040" y="4334256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2E8FA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4608576"/>
            <a:ext cx="548640" cy="54864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10762488" y="4334256"/>
            <a:ext cx="1097280" cy="1097280"/>
          </a:xfrm>
          <a:prstGeom prst="roundRect">
            <a:avLst>
              <a:gd name="adj" fmla="val 16667"/>
            </a:avLst>
          </a:prstGeom>
          <a:solidFill>
            <a:srgbClr val="7B4FE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6808" y="4608576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052560" y="5806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 · Sales · Profit · Flow · North · Growth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DE57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Nexa </a:t>
            </a:r>
            <a:pPr indent="0" marL="0">
              <a:buNone/>
            </a:pPr>
            <a:r>
              <a:rPr lang="en-US" sz="4000" b="1" dirty="0">
                <a:solidFill>
                  <a:srgbClr val="DE57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E57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ATRAI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operação de marketing completa — sem agência.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 e auditorias de marketing com relatórios gerados por IA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e captura de leads integradas ao funil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marketing público que gera leads sozinho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conteúdo e mídia paga planejadas no sistema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E57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1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para pagar todo mês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4767F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</a:t>
            </a:r>
            <a:pPr indent="0" marL="0">
              <a:buNone/>
            </a:pPr>
            <a:r>
              <a:rPr lang="en-US" sz="40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CONVERTE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lead ao fechamento, um funil que vende.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Kanban visual com estágios do seu jeito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do Meta Ads caindo direto no funil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Réguas de follow-up automáticas por WhatsApp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 funil por IA apontando onde vaza dinheiro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leads em um só lugar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5E8C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 </a:t>
            </a:r>
            <a:pPr indent="0" marL="0">
              <a:buNone/>
            </a:pPr>
            <a:r>
              <a:rPr lang="en-US" sz="4000" b="1" dirty="0">
                <a:solidFill>
                  <a:srgbClr val="5E8C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5E8C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LUCRA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receitas e despesas sob controle — lucro à vista.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receitas, despesas e metas sem planilha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despesas por PDF com leitura por IA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Brasil com faturamento por estado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Comparativos anuais e relatórios por cliente e fornecedor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E8C5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R$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real com origem e destino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3A50D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 </a:t>
            </a:r>
            <a:pPr indent="0" marL="0">
              <a:buNone/>
            </a:pPr>
            <a:r>
              <a:rPr lang="en-US" sz="4000" b="1" dirty="0">
                <a:solidFill>
                  <a:srgbClr val="3A50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3A50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Projetos, tarefas e processos rodando no ritmo certo.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tarefas em Kanban, Gantt e timeline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mapas de processos (BPMN, SWOT, organogramas)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desempenho da equipe integrada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projetos com o cliente final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A50D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perdidas no WhatsApp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2E8FA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North </a:t>
            </a:r>
            <a:pPr indent="0" marL="0">
              <a:buNone/>
            </a:pPr>
            <a:r>
              <a:rPr lang="en-US" sz="4000" b="1" dirty="0">
                <a:solidFill>
                  <a:srgbClr val="2E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E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DÁ O NORTE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que dão o norte das suas decisões.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Conversão, receita e funil em dashboards vivos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consolidada de todos os módulos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prontos para reunião de diretoria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tendências sem montar planilha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8FA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para decidir com segurança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51560" cy="1051560"/>
          </a:xfrm>
          <a:prstGeom prst="roundRect">
            <a:avLst>
              <a:gd name="adj" fmla="val 17391"/>
            </a:avLst>
          </a:prstGeom>
          <a:solidFill>
            <a:srgbClr val="7B4F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90068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62179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 </a:t>
            </a:r>
            <a:pPr indent="0" marL="0">
              <a:buNone/>
            </a:pPr>
            <a:r>
              <a:rPr lang="en-US" sz="4000" b="1" dirty="0">
                <a:solidFill>
                  <a:srgbClr val="7B4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947672" y="1371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7B4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ACELERA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58368" y="2148840"/>
            <a:ext cx="6675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e agentes de IA trabalhando pelo seu crescimento.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13232" y="3063240"/>
            <a:ext cx="65836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comercial, de marketing e de processos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Diagnósticos de maturidade com recomendações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estratégico: SWOT, GPD, canvas e personas</a:t>
            </a:r>
            <a:endParaRPr lang="en-US" sz="15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prospecção com listas e exportação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955280" y="2148840"/>
            <a:ext cx="3566160" cy="3108960"/>
          </a:xfrm>
          <a:prstGeom prst="roundRect">
            <a:avLst>
              <a:gd name="adj" fmla="val 5294"/>
            </a:avLst>
          </a:prstGeom>
          <a:solidFill>
            <a:srgbClr val="F6F6F8"/>
          </a:solidFill>
          <a:ln/>
        </p:spPr>
      </p:sp>
      <p:sp>
        <p:nvSpPr>
          <p:cNvPr id="9" name="Text 6"/>
          <p:cNvSpPr/>
          <p:nvPr/>
        </p:nvSpPr>
        <p:spPr>
          <a:xfrm>
            <a:off x="7955280" y="26517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B4FE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24/7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183880" y="4023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trabalhando pelo negócio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0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by GrowUp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Seis módulos, um ciclo de crescimento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DE57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444" y="3095244"/>
            <a:ext cx="301752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E57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12848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05456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3054096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4767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972" y="30952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05456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505456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6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51376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4443984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16" name="Shape 12"/>
          <p:cNvSpPr/>
          <p:nvPr/>
        </p:nvSpPr>
        <p:spPr>
          <a:xfrm>
            <a:off x="4992624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5E8C5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309524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43984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Profit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443984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8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089904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6382512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22" name="Shape 17"/>
          <p:cNvSpPr/>
          <p:nvPr/>
        </p:nvSpPr>
        <p:spPr>
          <a:xfrm>
            <a:off x="6931152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3A50D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28" y="309524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82512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Flow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382512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5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8028432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8321040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28" name="Shape 22"/>
          <p:cNvSpPr/>
          <p:nvPr/>
        </p:nvSpPr>
        <p:spPr>
          <a:xfrm>
            <a:off x="8869680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2E8FA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0556" y="3095244"/>
            <a:ext cx="301752" cy="3017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321040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North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8321040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o norte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9966960" y="33101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B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10259568" y="2743200"/>
            <a:ext cx="1700784" cy="1600200"/>
          </a:xfrm>
          <a:prstGeom prst="roundRect">
            <a:avLst>
              <a:gd name="adj" fmla="val 8000"/>
            </a:avLst>
          </a:prstGeom>
          <a:solidFill>
            <a:srgbClr val="F6F6F8"/>
          </a:solidFill>
          <a:ln/>
        </p:spPr>
      </p:sp>
      <p:sp>
        <p:nvSpPr>
          <p:cNvPr id="34" name="Shape 27"/>
          <p:cNvSpPr/>
          <p:nvPr/>
        </p:nvSpPr>
        <p:spPr>
          <a:xfrm>
            <a:off x="10808208" y="2944368"/>
            <a:ext cx="603504" cy="603504"/>
          </a:xfrm>
          <a:prstGeom prst="roundRect">
            <a:avLst>
              <a:gd name="adj" fmla="val 18182"/>
            </a:avLst>
          </a:prstGeom>
          <a:solidFill>
            <a:srgbClr val="7B4FE0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9084" y="3095244"/>
            <a:ext cx="301752" cy="30175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0259568" y="35844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Growth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10259568" y="39136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B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C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alimenta o próximo — e o Growth One, com IA, acelera o ciclo inteiro.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Por que o ONE — e não mais uma ferramenta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6F6F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6012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Substitui a colcha de retalhos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financeiro, operação, relatórios e marketing em uma assinatura — menos custo, zero integração para manter.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80560" y="17373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6F6F8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80060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 método GrowUp embutido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006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software vazio: funis, réguas, diagnósticos e planejamento chegam prontos, do jeito que a consultoria aplica.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520440" cy="3566160"/>
          </a:xfrm>
          <a:prstGeom prst="roundRect">
            <a:avLst>
              <a:gd name="adj" fmla="val 4156"/>
            </a:avLst>
          </a:prstGeom>
          <a:solidFill>
            <a:srgbClr val="F6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8641080" y="2057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767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41080" y="2788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IA em todos os módulos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4108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analisam funil, geram relatórios, leem despesas em PDF e trabalham 24/7 pelo seu crescimento.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Growup_sis/fase1/kit/one-by-growup_principal_offwhite@2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4236" y="1371600"/>
            <a:ext cx="3840480" cy="16677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66160"/>
            <a:ext cx="12188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1F1F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Vamos colocar o seu negócio em um?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77156" y="4480560"/>
            <a:ext cx="2834640" cy="658368"/>
          </a:xfrm>
          <a:prstGeom prst="roundRect">
            <a:avLst>
              <a:gd name="adj" fmla="val 19444"/>
            </a:avLst>
          </a:prstGeom>
          <a:solidFill>
            <a:srgbClr val="4767FA"/>
          </a:solidFill>
          <a:ln/>
        </p:spPr>
      </p:sp>
      <p:sp>
        <p:nvSpPr>
          <p:cNvPr id="5" name="Text 2"/>
          <p:cNvSpPr/>
          <p:nvPr/>
        </p:nvSpPr>
        <p:spPr>
          <a:xfrm>
            <a:off x="4677156" y="4480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Fale com a GrowUp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6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sistema.grow2up.com.br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6748272"/>
            <a:ext cx="2031492" cy="109728"/>
          </a:xfrm>
          <a:prstGeom prst="rect">
            <a:avLst/>
          </a:prstGeom>
          <a:solidFill>
            <a:srgbClr val="DE571B"/>
          </a:solidFill>
          <a:ln/>
        </p:spPr>
      </p:sp>
      <p:sp>
        <p:nvSpPr>
          <p:cNvPr id="8" name="Shape 5"/>
          <p:cNvSpPr/>
          <p:nvPr/>
        </p:nvSpPr>
        <p:spPr>
          <a:xfrm>
            <a:off x="2031492" y="6748272"/>
            <a:ext cx="2031492" cy="109728"/>
          </a:xfrm>
          <a:prstGeom prst="rect">
            <a:avLst/>
          </a:prstGeom>
          <a:solidFill>
            <a:srgbClr val="4767FA"/>
          </a:solidFill>
          <a:ln/>
        </p:spPr>
      </p:sp>
      <p:sp>
        <p:nvSpPr>
          <p:cNvPr id="9" name="Shape 6"/>
          <p:cNvSpPr/>
          <p:nvPr/>
        </p:nvSpPr>
        <p:spPr>
          <a:xfrm>
            <a:off x="4062984" y="6748272"/>
            <a:ext cx="2031492" cy="109728"/>
          </a:xfrm>
          <a:prstGeom prst="rect">
            <a:avLst/>
          </a:prstGeom>
          <a:solidFill>
            <a:srgbClr val="5E8C54"/>
          </a:solidFill>
          <a:ln/>
        </p:spPr>
      </p:sp>
      <p:sp>
        <p:nvSpPr>
          <p:cNvPr id="10" name="Shape 7"/>
          <p:cNvSpPr/>
          <p:nvPr/>
        </p:nvSpPr>
        <p:spPr>
          <a:xfrm>
            <a:off x="6094476" y="6748272"/>
            <a:ext cx="2031492" cy="109728"/>
          </a:xfrm>
          <a:prstGeom prst="rect">
            <a:avLst/>
          </a:prstGeom>
          <a:solidFill>
            <a:srgbClr val="3A50D2"/>
          </a:solidFill>
          <a:ln/>
        </p:spPr>
      </p:sp>
      <p:sp>
        <p:nvSpPr>
          <p:cNvPr id="11" name="Shape 8"/>
          <p:cNvSpPr/>
          <p:nvPr/>
        </p:nvSpPr>
        <p:spPr>
          <a:xfrm>
            <a:off x="8125968" y="6748272"/>
            <a:ext cx="2031492" cy="109728"/>
          </a:xfrm>
          <a:prstGeom prst="rect">
            <a:avLst/>
          </a:prstGeom>
          <a:solidFill>
            <a:srgbClr val="2E8FA3"/>
          </a:solidFill>
          <a:ln/>
        </p:spPr>
      </p:sp>
      <p:sp>
        <p:nvSpPr>
          <p:cNvPr id="12" name="Shape 9"/>
          <p:cNvSpPr/>
          <p:nvPr/>
        </p:nvSpPr>
        <p:spPr>
          <a:xfrm>
            <a:off x="10157460" y="6748272"/>
            <a:ext cx="2031492" cy="109728"/>
          </a:xfrm>
          <a:prstGeom prst="rect">
            <a:avLst/>
          </a:prstGeom>
          <a:solidFill>
            <a:srgbClr val="7B4FE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2026-07-27T11:39:44Z</dcterms:created>
  <dcterms:modified xsi:type="dcterms:W3CDTF">2026-07-27T11:39:44Z</dcterms:modified>
</cp:coreProperties>
</file>